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12.svg" ContentType="image/svg+xml"/>
  <Override PartName="/ppt/media/image2.svg" ContentType="image/svg+xml"/>
  <Override PartName="/ppt/media/image28.svg" ContentType="image/svg+xml"/>
  <Override PartName="/ppt/media/image32.svg" ContentType="image/svg+xml"/>
  <Override PartName="/ppt/media/image34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5"/>
  </p:notesMasterIdLst>
  <p:sldIdLst>
    <p:sldId id="275" r:id="rId4"/>
    <p:sldId id="315" r:id="rId6"/>
    <p:sldId id="299" r:id="rId7"/>
    <p:sldId id="328" r:id="rId8"/>
    <p:sldId id="323" r:id="rId9"/>
    <p:sldId id="329" r:id="rId10"/>
    <p:sldId id="324" r:id="rId11"/>
    <p:sldId id="330" r:id="rId12"/>
    <p:sldId id="325" r:id="rId13"/>
    <p:sldId id="331" r:id="rId14"/>
    <p:sldId id="326" r:id="rId15"/>
    <p:sldId id="332" r:id="rId16"/>
    <p:sldId id="322" r:id="rId17"/>
  </p:sldIdLst>
  <p:sldSz cx="12192000" cy="6858000"/>
  <p:notesSz cx="6858000" cy="9144000"/>
  <p:embeddedFontLst>
    <p:embeddedFont>
      <p:font typeface="微软雅黑" panose="020B0503020204020204" pitchFamily="34" charset="-122"/>
      <p:regular r:id="rId21"/>
    </p:embeddedFont>
    <p:embeddedFont>
      <p:font typeface="等线" panose="02010600030101010101" charset="-122"/>
      <p:regular r:id="rId22"/>
    </p:embeddedFont>
    <p:embeddedFont>
      <p:font typeface="等线 Light" panose="02010600030101010101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256" y="1062"/>
      </p:cViewPr>
      <p:guideLst>
        <p:guide orient="horz" pos="2137"/>
        <p:guide pos="3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026EB-4058-4BC7-8426-D7194AF02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B6501-1FA3-4C81-8BF3-01BFF0E331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10FD2-7342-4681-882A-4B6560D700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10FD2-7342-4681-882A-4B6560D700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362B0-12AC-4085-87E0-7E16945EAB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AA87C-ACA7-499A-A6CC-A785EF5340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image" Target="../media/image2.svg"/><Relationship Id="rId21" Type="http://schemas.openxmlformats.org/officeDocument/2006/relationships/image" Target="../media/image1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27.png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3.png"/><Relationship Id="rId2" Type="http://schemas.openxmlformats.org/officeDocument/2006/relationships/image" Target="../media/image28.sv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8.sv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4919241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tka Text"/>
              <a:ea typeface="微软雅黑 Light" panose="020B0502040204020203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2650" y="2167255"/>
            <a:ext cx="689483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chemeClr val="bg1"/>
                </a:solidFill>
                <a:latin typeface="Novecento wide Bold" panose="00000805000000000000" pitchFamily="50" charset="0"/>
                <a:ea typeface="思源黑体 Medium" panose="020B0600000000000000" pitchFamily="34" charset="-122"/>
              </a:rPr>
              <a:t>教学管理系统</a:t>
            </a:r>
            <a:endParaRPr lang="zh-CN" altLang="en-US" sz="6600" b="1" dirty="0">
              <a:solidFill>
                <a:schemeClr val="bg1"/>
              </a:solidFill>
              <a:latin typeface="Novecento wide Bold" panose="00000805000000000000" pitchFamily="50" charset="0"/>
              <a:ea typeface="思源黑体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83615" y="3274060"/>
            <a:ext cx="4838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基于角色权限的多端教务管理平台</a:t>
            </a:r>
            <a:endParaRPr lang="zh-CN" altLang="en-US" b="1" dirty="0">
              <a:solidFill>
                <a:schemeClr val="bg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83848" y="5456348"/>
            <a:ext cx="27857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汇报人：李依妮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3847" y="5926209"/>
            <a:ext cx="41254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汇报时间：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7748" y="-2526731"/>
            <a:ext cx="10224035" cy="10548612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882504" y="2448889"/>
            <a:ext cx="0" cy="127101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94144" y="3423982"/>
            <a:ext cx="176720" cy="187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863" y="5429921"/>
            <a:ext cx="938469" cy="968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-142000" y="796672"/>
            <a:ext cx="5392402" cy="5392401"/>
          </a:xfrm>
          <a:prstGeom prst="ellipse">
            <a:avLst/>
          </a:prstGeom>
          <a:noFill/>
          <a:ln w="6350">
            <a:solidFill>
              <a:schemeClr val="bg1">
                <a:lumMod val="75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-1189667" y="-250994"/>
            <a:ext cx="7487735" cy="7487734"/>
          </a:xfrm>
          <a:prstGeom prst="ellipse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-100010" y="1110117"/>
            <a:ext cx="6810228" cy="6810226"/>
          </a:xfrm>
          <a:prstGeom prst="ellipse">
            <a:avLst/>
          </a:prstGeom>
          <a:noFill/>
          <a:ln w="6350">
            <a:solidFill>
              <a:schemeClr val="bg1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-743543" y="-1707853"/>
            <a:ext cx="7487735" cy="7487734"/>
          </a:xfrm>
          <a:prstGeom prst="ellipse">
            <a:avLst/>
          </a:prstGeom>
          <a:noFill/>
          <a:ln w="6350">
            <a:solidFill>
              <a:schemeClr val="bg1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85488" y="1791863"/>
            <a:ext cx="3468634" cy="3468634"/>
          </a:xfrm>
          <a:prstGeom prst="ellipse">
            <a:avLst/>
          </a:prstGeom>
          <a:noFill/>
          <a:ln w="44450">
            <a:solidFill>
              <a:srgbClr val="3843B3">
                <a:alpha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878743" y="1885118"/>
            <a:ext cx="3282124" cy="3282124"/>
          </a:xfrm>
          <a:prstGeom prst="ellipse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6106582" y="1082192"/>
            <a:ext cx="4226560" cy="410803"/>
          </a:xfrm>
          <a:prstGeom prst="rect">
            <a:avLst/>
          </a:prstGeom>
          <a:solidFill>
            <a:schemeClr val="bg1">
              <a:lumMod val="8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621523" y="2096976"/>
            <a:ext cx="4226560" cy="410803"/>
          </a:xfrm>
          <a:prstGeom prst="rect">
            <a:avLst/>
          </a:prstGeom>
          <a:solidFill>
            <a:schemeClr val="bg1">
              <a:lumMod val="8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6773585" y="3223598"/>
            <a:ext cx="4226560" cy="410803"/>
          </a:xfrm>
          <a:prstGeom prst="rect">
            <a:avLst/>
          </a:prstGeom>
          <a:solidFill>
            <a:schemeClr val="bg1">
              <a:lumMod val="8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6621523" y="4309828"/>
            <a:ext cx="4226560" cy="410803"/>
          </a:xfrm>
          <a:prstGeom prst="rect">
            <a:avLst/>
          </a:prstGeom>
          <a:solidFill>
            <a:schemeClr val="bg1">
              <a:lumMod val="8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>
            <p:custDataLst>
              <p:tags r:id="rId5"/>
            </p:custDataLst>
          </p:nvPr>
        </p:nvGrpSpPr>
        <p:grpSpPr>
          <a:xfrm>
            <a:off x="5305305" y="963203"/>
            <a:ext cx="619822" cy="634301"/>
            <a:chOff x="5305305" y="963203"/>
            <a:chExt cx="619822" cy="634301"/>
          </a:xfrm>
        </p:grpSpPr>
        <p:sp>
          <p:nvSpPr>
            <p:cNvPr id="12" name="椭圆 11"/>
            <p:cNvSpPr/>
            <p:nvPr>
              <p:custDataLst>
                <p:tags r:id="rId6"/>
              </p:custDataLst>
            </p:nvPr>
          </p:nvSpPr>
          <p:spPr>
            <a:xfrm>
              <a:off x="5305305" y="977682"/>
              <a:ext cx="619822" cy="619822"/>
            </a:xfrm>
            <a:prstGeom prst="ellipse">
              <a:avLst/>
            </a:prstGeom>
            <a:solidFill>
              <a:srgbClr val="3843B3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latin typeface="Montserrat Light" panose="00000400000000000000" pitchFamily="2" charset="0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398921" y="963203"/>
              <a:ext cx="4530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Novecento wide Bold" panose="00000805000000000000" pitchFamily="50" charset="0"/>
                </a:rPr>
                <a:t>1</a:t>
              </a:r>
              <a:endParaRPr lang="zh-CN" altLang="en-US" sz="3200" dirty="0">
                <a:solidFill>
                  <a:schemeClr val="bg1"/>
                </a:solidFill>
                <a:latin typeface="Novecento wide Bold" panose="00000805000000000000" pitchFamily="50" charset="0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8"/>
            </p:custDataLst>
          </p:nvPr>
        </p:nvGrpSpPr>
        <p:grpSpPr>
          <a:xfrm>
            <a:off x="5796671" y="1977986"/>
            <a:ext cx="619822" cy="634301"/>
            <a:chOff x="5305305" y="963203"/>
            <a:chExt cx="619822" cy="634301"/>
          </a:xfrm>
        </p:grpSpPr>
        <p:sp>
          <p:nvSpPr>
            <p:cNvPr id="25" name="椭圆 24"/>
            <p:cNvSpPr/>
            <p:nvPr>
              <p:custDataLst>
                <p:tags r:id="rId9"/>
              </p:custDataLst>
            </p:nvPr>
          </p:nvSpPr>
          <p:spPr>
            <a:xfrm>
              <a:off x="5305305" y="977682"/>
              <a:ext cx="619822" cy="619822"/>
            </a:xfrm>
            <a:prstGeom prst="ellipse">
              <a:avLst/>
            </a:prstGeom>
            <a:solidFill>
              <a:srgbClr val="3843B3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latin typeface="Montserrat Light" panose="00000400000000000000" pitchFamily="2" charset="0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0"/>
              </p:custDataLst>
            </p:nvPr>
          </p:nvSpPr>
          <p:spPr>
            <a:xfrm>
              <a:off x="5398921" y="963203"/>
              <a:ext cx="4530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Novecento wide Bold" panose="00000805000000000000" pitchFamily="50" charset="0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Novecento wide Bold" panose="00000805000000000000" pitchFamily="50" charset="0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1"/>
            </p:custDataLst>
          </p:nvPr>
        </p:nvGrpSpPr>
        <p:grpSpPr>
          <a:xfrm>
            <a:off x="5989199" y="3126456"/>
            <a:ext cx="619822" cy="634301"/>
            <a:chOff x="5305305" y="963203"/>
            <a:chExt cx="619822" cy="634301"/>
          </a:xfrm>
        </p:grpSpPr>
        <p:sp>
          <p:nvSpPr>
            <p:cNvPr id="28" name="椭圆 27"/>
            <p:cNvSpPr/>
            <p:nvPr>
              <p:custDataLst>
                <p:tags r:id="rId12"/>
              </p:custDataLst>
            </p:nvPr>
          </p:nvSpPr>
          <p:spPr>
            <a:xfrm>
              <a:off x="5305305" y="977682"/>
              <a:ext cx="619822" cy="619822"/>
            </a:xfrm>
            <a:prstGeom prst="ellipse">
              <a:avLst/>
            </a:prstGeom>
            <a:solidFill>
              <a:srgbClr val="3843B3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latin typeface="Montserrat Light" panose="00000400000000000000" pitchFamily="2" charset="0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3"/>
              </p:custDataLst>
            </p:nvPr>
          </p:nvSpPr>
          <p:spPr>
            <a:xfrm>
              <a:off x="5398921" y="963203"/>
              <a:ext cx="4530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Novecento wide Bold" panose="00000805000000000000" pitchFamily="50" charset="0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Novecento wide Bold" panose="00000805000000000000" pitchFamily="50" charset="0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14"/>
            </p:custDataLst>
          </p:nvPr>
        </p:nvGrpSpPr>
        <p:grpSpPr>
          <a:xfrm>
            <a:off x="5786089" y="4239680"/>
            <a:ext cx="619822" cy="633542"/>
            <a:chOff x="5305305" y="963962"/>
            <a:chExt cx="619822" cy="633542"/>
          </a:xfrm>
        </p:grpSpPr>
        <p:sp>
          <p:nvSpPr>
            <p:cNvPr id="31" name="椭圆 30"/>
            <p:cNvSpPr/>
            <p:nvPr>
              <p:custDataLst>
                <p:tags r:id="rId15"/>
              </p:custDataLst>
            </p:nvPr>
          </p:nvSpPr>
          <p:spPr>
            <a:xfrm>
              <a:off x="5305305" y="977682"/>
              <a:ext cx="619822" cy="619822"/>
            </a:xfrm>
            <a:prstGeom prst="ellipse">
              <a:avLst/>
            </a:prstGeom>
            <a:solidFill>
              <a:srgbClr val="3843B3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latin typeface="Montserrat Light" panose="00000400000000000000" pitchFamily="2" charset="0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6"/>
              </p:custDataLst>
            </p:nvPr>
          </p:nvSpPr>
          <p:spPr>
            <a:xfrm>
              <a:off x="5360810" y="963962"/>
              <a:ext cx="4530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Novecento wide Bold" panose="00000805000000000000" pitchFamily="50" charset="0"/>
                </a:rPr>
                <a:t>4</a:t>
              </a:r>
              <a:endParaRPr lang="zh-CN" altLang="en-US" sz="3200" dirty="0">
                <a:solidFill>
                  <a:schemeClr val="bg1"/>
                </a:solidFill>
                <a:latin typeface="Novecento wide Bold" panose="00000805000000000000" pitchFamily="50" charset="0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1029825" y="3013500"/>
            <a:ext cx="2979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答辩目录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7"/>
            </p:custDataLst>
          </p:nvPr>
        </p:nvSpPr>
        <p:spPr>
          <a:xfrm>
            <a:off x="6021705" y="1057275"/>
            <a:ext cx="3547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项目概述与技术架构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8"/>
            </p:custDataLst>
          </p:nvPr>
        </p:nvSpPr>
        <p:spPr>
          <a:xfrm>
            <a:off x="6608735" y="2071543"/>
            <a:ext cx="21260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权限控制设计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9"/>
            </p:custDataLst>
          </p:nvPr>
        </p:nvSpPr>
        <p:spPr>
          <a:xfrm>
            <a:off x="6710218" y="3188010"/>
            <a:ext cx="21260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20"/>
            </p:custDataLst>
          </p:nvPr>
        </p:nvSpPr>
        <p:spPr>
          <a:xfrm>
            <a:off x="6608445" y="4295775"/>
            <a:ext cx="2961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难点攻克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" name="图形 46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395832" y="2323777"/>
            <a:ext cx="2197822" cy="2267595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1079850" y="3707176"/>
            <a:ext cx="2944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n>
                  <a:solidFill>
                    <a:schemeClr val="bg1"/>
                  </a:solidFill>
                </a:ln>
                <a:noFill/>
                <a:latin typeface="Novecento wide Bold" panose="00000805000000000000" pitchFamily="50" charset="0"/>
                <a:ea typeface="思源黑体 Medium" panose="020B0600000000000000" pitchFamily="34" charset="-122"/>
              </a:rPr>
              <a:t>Directory</a:t>
            </a:r>
            <a:endParaRPr lang="zh-CN" altLang="en-US" sz="2000" dirty="0">
              <a:ln>
                <a:solidFill>
                  <a:schemeClr val="bg1"/>
                </a:solidFill>
              </a:ln>
              <a:noFill/>
              <a:latin typeface="Novecento wide Bold" panose="00000805000000000000" pitchFamily="50" charset="0"/>
              <a:ea typeface="思源黑体 Medium" panose="020B0600000000000000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23"/>
            </p:custDataLst>
          </p:nvPr>
        </p:nvSpPr>
        <p:spPr>
          <a:xfrm>
            <a:off x="6127826" y="5487271"/>
            <a:ext cx="4226560" cy="410803"/>
          </a:xfrm>
          <a:prstGeom prst="rect">
            <a:avLst/>
          </a:prstGeom>
          <a:solidFill>
            <a:schemeClr val="bg1">
              <a:lumMod val="8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24"/>
            </p:custDataLst>
          </p:nvPr>
        </p:nvGrpSpPr>
        <p:grpSpPr>
          <a:xfrm>
            <a:off x="5292392" y="5417123"/>
            <a:ext cx="619822" cy="633542"/>
            <a:chOff x="5305305" y="963962"/>
            <a:chExt cx="619822" cy="633542"/>
          </a:xfrm>
        </p:grpSpPr>
        <p:sp>
          <p:nvSpPr>
            <p:cNvPr id="35" name="椭圆 34"/>
            <p:cNvSpPr/>
            <p:nvPr>
              <p:custDataLst>
                <p:tags r:id="rId25"/>
              </p:custDataLst>
            </p:nvPr>
          </p:nvSpPr>
          <p:spPr>
            <a:xfrm>
              <a:off x="5305305" y="977682"/>
              <a:ext cx="619822" cy="619822"/>
            </a:xfrm>
            <a:prstGeom prst="ellipse">
              <a:avLst/>
            </a:prstGeom>
            <a:solidFill>
              <a:srgbClr val="3843B3"/>
            </a:solidFill>
            <a:ln w="539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latin typeface="Montserrat Light" panose="00000400000000000000" pitchFamily="2" charset="0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26"/>
              </p:custDataLst>
            </p:nvPr>
          </p:nvSpPr>
          <p:spPr>
            <a:xfrm>
              <a:off x="5360810" y="963962"/>
              <a:ext cx="4530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Novecento wide Bold" panose="00000805000000000000" pitchFamily="50" charset="0"/>
                </a:rPr>
                <a:t>5</a:t>
              </a:r>
              <a:endParaRPr lang="zh-CN" altLang="en-US" sz="3200" dirty="0">
                <a:solidFill>
                  <a:schemeClr val="bg1"/>
                </a:solidFill>
                <a:latin typeface="Novecento wide Bold" panose="00000805000000000000" pitchFamily="50" charset="0"/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27"/>
            </p:custDataLst>
          </p:nvPr>
        </p:nvSpPr>
        <p:spPr>
          <a:xfrm>
            <a:off x="6115039" y="5473387"/>
            <a:ext cx="21260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收获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189667" y="-1707853"/>
            <a:ext cx="7933859" cy="9628196"/>
            <a:chOff x="-1189667" y="-1707853"/>
            <a:chExt cx="7933859" cy="9628196"/>
          </a:xfrm>
        </p:grpSpPr>
        <p:sp>
          <p:nvSpPr>
            <p:cNvPr id="7" name="椭圆 6"/>
            <p:cNvSpPr/>
            <p:nvPr/>
          </p:nvSpPr>
          <p:spPr>
            <a:xfrm>
              <a:off x="-142000" y="796672"/>
              <a:ext cx="5392402" cy="5392401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-1189667" y="-250994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-100010" y="1110117"/>
              <a:ext cx="6810228" cy="6810226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-743543" y="-1707853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0" y="2011680"/>
            <a:ext cx="12192000" cy="2812868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853146" y="2461804"/>
            <a:ext cx="1912620" cy="19126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600" dirty="0">
              <a:solidFill>
                <a:srgbClr val="3843B3"/>
              </a:solidFill>
              <a:latin typeface="Novecento wide Bold" panose="00000805000000000000" pitchFamily="50" charset="0"/>
              <a:ea typeface="思源黑体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08513" y="3077373"/>
            <a:ext cx="645439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项目概述与技术架构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1861" y="2243292"/>
            <a:ext cx="12257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800" dirty="0">
                <a:solidFill>
                  <a:srgbClr val="3843B3"/>
                </a:solidFill>
                <a:latin typeface="Novecento wide Bold" panose="00000805000000000000" pitchFamily="50" charset="0"/>
              </a:rPr>
              <a:t>1</a:t>
            </a:r>
            <a:endParaRPr lang="zh-CN" altLang="en-US" sz="12800" dirty="0">
              <a:solidFill>
                <a:srgbClr val="3843B3"/>
              </a:solidFill>
              <a:latin typeface="Novecento wide Bold" panose="00000805000000000000" pitchFamily="50" charset="0"/>
            </a:endParaRP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5507" y="2461803"/>
            <a:ext cx="1912620" cy="19733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42286" y="0"/>
            <a:ext cx="2249715" cy="6858000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4940" y="509905"/>
            <a:ext cx="2938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项目概述与技术架构</a:t>
            </a:r>
            <a:endParaRPr lang="zh-CN" altLang="en-US" sz="24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6998" y="420430"/>
            <a:ext cx="1068278" cy="1102192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968457" y="577043"/>
            <a:ext cx="327299" cy="327299"/>
          </a:xfrm>
          <a:prstGeom prst="ellipse">
            <a:avLst/>
          </a:prstGeom>
          <a:solidFill>
            <a:srgbClr val="3843B3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73970" y="1704975"/>
            <a:ext cx="17653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项目概述与技术架构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52185" y="2582349"/>
            <a:ext cx="178702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权限控制设计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173628" y="3163215"/>
            <a:ext cx="178702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核心功能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73628" y="3744081"/>
            <a:ext cx="178702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难点攻克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173628" y="4324947"/>
            <a:ext cx="178702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收获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2495550"/>
            <a:ext cx="79298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技术栈：</a:t>
            </a:r>
            <a:r>
              <a:rPr lang="en-US" altLang="zh-CN" sz="24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HTML5 + CSS3 + JavaScript · Node.js + Express · MySQL · JWT</a:t>
            </a:r>
            <a:endParaRPr lang="en-US" altLang="zh-CN" sz="24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7245" y="1094105"/>
            <a:ext cx="82327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概述：本系统是一个基于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Node.js + MySQL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的教学管理平台，支持管理员、教师、学生三种角色，实现成绩管理、通知发布、用户权限控制等核心功能。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7245" y="3527425"/>
            <a:ext cx="1652270" cy="836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技术架构：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 descr="架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110" y="1522730"/>
            <a:ext cx="4305935" cy="5288915"/>
          </a:xfrm>
          <a:prstGeom prst="rect">
            <a:avLst/>
          </a:prstGeom>
        </p:spPr>
      </p:pic>
      <p:pic>
        <p:nvPicPr>
          <p:cNvPr id="19" name="图片 18" descr="屏幕截图 2026-04-18 1119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565" y="153035"/>
            <a:ext cx="5985510" cy="3167380"/>
          </a:xfrm>
          <a:prstGeom prst="rect">
            <a:avLst/>
          </a:prstGeom>
        </p:spPr>
      </p:pic>
      <p:pic>
        <p:nvPicPr>
          <p:cNvPr id="20" name="图片 19" descr="屏幕截图 2026-04-18 1119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475" y="153035"/>
            <a:ext cx="6268720" cy="3317240"/>
          </a:xfrm>
          <a:prstGeom prst="rect">
            <a:avLst/>
          </a:prstGeom>
        </p:spPr>
      </p:pic>
      <p:pic>
        <p:nvPicPr>
          <p:cNvPr id="21" name="图片 20" descr="屏幕截图 2026-04-18 1119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9825" y="178435"/>
            <a:ext cx="6262370" cy="3314065"/>
          </a:xfrm>
          <a:prstGeom prst="rect">
            <a:avLst/>
          </a:prstGeom>
        </p:spPr>
      </p:pic>
      <p:pic>
        <p:nvPicPr>
          <p:cNvPr id="23" name="图片 22" descr="目录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2690" y="1332230"/>
            <a:ext cx="3123565" cy="547941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175125" y="2171700"/>
            <a:ext cx="3571875" cy="614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C00000"/>
                </a:solidFill>
              </a:rPr>
              <a:t>集中管理系统的环境配置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18965" y="24174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登录控制器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479925" y="27724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中间件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70375" y="315912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连接数据库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986020" y="3470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存放依赖包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929380" y="3838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存放前端的代码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09085" y="4141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存放路由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09085" y="45231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密码加密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810635" y="4904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工具函数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758565" y="52863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环境变量配置文件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929380" y="5632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开启服务器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875405" y="5922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数据库的初始化文件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5" grpId="0"/>
      <p:bldP spid="5" grpId="1"/>
      <p:bldP spid="13" grpId="0"/>
      <p:bldP spid="13" grpId="1"/>
      <p:bldP spid="25" grpId="0"/>
      <p:bldP spid="25" grpId="1"/>
      <p:bldP spid="25" grpId="2"/>
      <p:bldP spid="26" grpId="0"/>
      <p:bldP spid="26" grpId="1"/>
      <p:bldP spid="26" grpId="2"/>
      <p:bldP spid="27" grpId="0"/>
      <p:bldP spid="27" grpId="1"/>
      <p:bldP spid="27" grpId="2"/>
      <p:bldP spid="28" grpId="0"/>
      <p:bldP spid="28" grpId="1"/>
      <p:bldP spid="28" grpId="2"/>
      <p:bldP spid="29" grpId="0"/>
      <p:bldP spid="29" grpId="1"/>
      <p:bldP spid="29" grpId="2"/>
      <p:bldP spid="30" grpId="0"/>
      <p:bldP spid="30" grpId="1"/>
      <p:bldP spid="30" grpId="2"/>
      <p:bldP spid="31" grpId="0"/>
      <p:bldP spid="31" grpId="1"/>
      <p:bldP spid="31" grpId="2"/>
      <p:bldP spid="32" grpId="0"/>
      <p:bldP spid="32" grpId="1"/>
      <p:bldP spid="32" grpId="2"/>
      <p:bldP spid="33" grpId="0"/>
      <p:bldP spid="33" grpId="1"/>
      <p:bldP spid="33" grpId="2"/>
      <p:bldP spid="34" grpId="0"/>
      <p:bldP spid="34" grpId="1"/>
      <p:bldP spid="34" grpId="2"/>
      <p:bldP spid="36" grpId="0"/>
      <p:bldP spid="36" grpId="1"/>
      <p:bldP spid="36" grpId="2"/>
      <p:bldP spid="37" grpId="0"/>
      <p:bldP spid="37" grpId="1"/>
      <p:bldP spid="37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189667" y="-1707853"/>
            <a:ext cx="7933859" cy="9628196"/>
            <a:chOff x="-1189667" y="-1707853"/>
            <a:chExt cx="7933859" cy="9628196"/>
          </a:xfrm>
        </p:grpSpPr>
        <p:sp>
          <p:nvSpPr>
            <p:cNvPr id="7" name="椭圆 6"/>
            <p:cNvSpPr/>
            <p:nvPr/>
          </p:nvSpPr>
          <p:spPr>
            <a:xfrm>
              <a:off x="-142000" y="796672"/>
              <a:ext cx="5392402" cy="5392401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-1189667" y="-250994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-100010" y="1110117"/>
              <a:ext cx="6810228" cy="6810226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-743543" y="-1707853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0" y="2011680"/>
            <a:ext cx="12192000" cy="2812868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853146" y="2461804"/>
            <a:ext cx="1912620" cy="19126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600" dirty="0">
              <a:solidFill>
                <a:srgbClr val="3843B3"/>
              </a:solidFill>
              <a:latin typeface="Novecento wide Bold" panose="00000805000000000000" pitchFamily="50" charset="0"/>
              <a:ea typeface="思源黑体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08513" y="3077373"/>
            <a:ext cx="645439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权限控制设计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1861" y="2243292"/>
            <a:ext cx="12257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800" dirty="0">
                <a:solidFill>
                  <a:srgbClr val="3843B3"/>
                </a:solidFill>
                <a:latin typeface="Novecento wide Bold" panose="00000805000000000000" pitchFamily="50" charset="0"/>
              </a:rPr>
              <a:t>2</a:t>
            </a:r>
            <a:endParaRPr lang="zh-CN" altLang="en-US" sz="12800" dirty="0">
              <a:solidFill>
                <a:srgbClr val="3843B3"/>
              </a:solidFill>
              <a:latin typeface="Novecento wide Bold" panose="00000805000000000000" pitchFamily="50" charset="0"/>
            </a:endParaRP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5507" y="2461803"/>
            <a:ext cx="1912620" cy="19733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42286" y="0"/>
            <a:ext cx="2249715" cy="6858000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004" y="509861"/>
            <a:ext cx="265645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权限控制设计</a:t>
            </a:r>
            <a:endParaRPr lang="zh-CN" altLang="en-US" sz="24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6998" y="420430"/>
            <a:ext cx="1068278" cy="1102192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968457" y="577043"/>
            <a:ext cx="327299" cy="327299"/>
          </a:xfrm>
          <a:prstGeom prst="ellipse">
            <a:avLst/>
          </a:prstGeom>
          <a:solidFill>
            <a:srgbClr val="3843B3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52185" y="1835748"/>
            <a:ext cx="178702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项目概述与技术架构</a:t>
            </a:r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35540" y="2581275"/>
            <a:ext cx="2055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权限控制设计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173628" y="3163215"/>
            <a:ext cx="178702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73628" y="3744081"/>
            <a:ext cx="178702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难点攻克</a:t>
            </a:r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173628" y="4324947"/>
            <a:ext cx="178702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收获</a:t>
            </a:r>
            <a:endParaRPr lang="zh-CN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2720" y="1243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15" name="表格 14"/>
          <p:cNvGraphicFramePr/>
          <p:nvPr/>
        </p:nvGraphicFramePr>
        <p:xfrm>
          <a:off x="986155" y="1009650"/>
          <a:ext cx="8668385" cy="3049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/>
                <a:gridCol w="1664335"/>
                <a:gridCol w="1803400"/>
                <a:gridCol w="1733550"/>
                <a:gridCol w="1733550"/>
              </a:tblGrid>
              <a:tr h="5810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角色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成绩管理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班级管理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通知管理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日志查看</a:t>
                      </a:r>
                      <a:endParaRPr lang="zh-CN" altLang="en-US" sz="2400"/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管理员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全部增删改查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全部增删改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全校</a:t>
                      </a:r>
                      <a:r>
                        <a:rPr lang="en-US" altLang="zh-CN" sz="2400"/>
                        <a:t>/</a:t>
                      </a:r>
                      <a:r>
                        <a:rPr lang="zh-CN" altLang="en-US" sz="2400"/>
                        <a:t>班级发布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全部</a:t>
                      </a:r>
                      <a:endParaRPr lang="zh-CN" altLang="en-US" sz="2400"/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班主任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仅本班查</a:t>
                      </a:r>
                      <a:r>
                        <a:rPr lang="en-US" altLang="zh-CN" sz="2400"/>
                        <a:t>/</a:t>
                      </a:r>
                      <a:r>
                        <a:rPr lang="zh-CN" altLang="en-US" sz="2400"/>
                        <a:t>改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无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仅本班发布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仅本班</a:t>
                      </a:r>
                      <a:endParaRPr lang="zh-CN" altLang="en-US" sz="2400"/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学生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仅查个人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无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查看本班与全校通知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无</a:t>
                      </a:r>
                      <a:endParaRPr lang="zh-CN" alt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2975610" y="4326255"/>
            <a:ext cx="792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登录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29945" y="4326255"/>
            <a:ext cx="2145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权限实现流程：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895090" y="4326255"/>
            <a:ext cx="2048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-&gt;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后端验证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768340" y="4326255"/>
            <a:ext cx="4008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-&gt;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JWT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639050" y="4324985"/>
            <a:ext cx="1917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-&gt;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前端存储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42035" y="4958080"/>
            <a:ext cx="1933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每次请求时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758440" y="4958080"/>
            <a:ext cx="3185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中间件解析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23560" y="4958080"/>
            <a:ext cx="1950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校验角色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59015" y="4968240"/>
            <a:ext cx="2867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放行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/403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 descr="屏幕截图 2026-04-18 1403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440" y="5483860"/>
            <a:ext cx="7134225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20" grpId="0"/>
      <p:bldP spid="20" grpId="1"/>
      <p:bldP spid="21" grpId="0"/>
      <p:bldP spid="21" grpId="1"/>
      <p:bldP spid="27" grpId="0"/>
      <p:bldP spid="27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19" grpId="0"/>
      <p:bldP spid="1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189667" y="-1707853"/>
            <a:ext cx="7933859" cy="9628196"/>
            <a:chOff x="-1189667" y="-1707853"/>
            <a:chExt cx="7933859" cy="9628196"/>
          </a:xfrm>
        </p:grpSpPr>
        <p:sp>
          <p:nvSpPr>
            <p:cNvPr id="7" name="椭圆 6"/>
            <p:cNvSpPr/>
            <p:nvPr/>
          </p:nvSpPr>
          <p:spPr>
            <a:xfrm>
              <a:off x="-142000" y="796672"/>
              <a:ext cx="5392402" cy="5392401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-1189667" y="-250994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-100010" y="1110117"/>
              <a:ext cx="6810228" cy="6810226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-743543" y="-1707853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0" y="2011680"/>
            <a:ext cx="12192000" cy="2812868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853146" y="2461804"/>
            <a:ext cx="1912620" cy="19126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600" dirty="0">
              <a:solidFill>
                <a:srgbClr val="3843B3"/>
              </a:solidFill>
              <a:latin typeface="Novecento wide Bold" panose="00000805000000000000" pitchFamily="50" charset="0"/>
              <a:ea typeface="思源黑体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08513" y="3077373"/>
            <a:ext cx="645439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核心功能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1861" y="2243292"/>
            <a:ext cx="12257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800" dirty="0">
                <a:solidFill>
                  <a:srgbClr val="3843B3"/>
                </a:solidFill>
                <a:latin typeface="Novecento wide Bold" panose="00000805000000000000" pitchFamily="50" charset="0"/>
              </a:rPr>
              <a:t>3</a:t>
            </a:r>
            <a:endParaRPr lang="zh-CN" altLang="en-US" sz="12800" dirty="0">
              <a:solidFill>
                <a:srgbClr val="3843B3"/>
              </a:solidFill>
              <a:latin typeface="Novecento wide Bold" panose="00000805000000000000" pitchFamily="50" charset="0"/>
            </a:endParaRP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5507" y="2461803"/>
            <a:ext cx="1912620" cy="19733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42286" y="0"/>
            <a:ext cx="2249715" cy="6858000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004" y="509861"/>
            <a:ext cx="265645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核心功能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6998" y="420430"/>
            <a:ext cx="1068278" cy="1102192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968457" y="577043"/>
            <a:ext cx="327299" cy="327299"/>
          </a:xfrm>
          <a:prstGeom prst="ellipse">
            <a:avLst/>
          </a:prstGeom>
          <a:solidFill>
            <a:srgbClr val="3843B3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52185" y="1875753"/>
            <a:ext cx="178702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项目概述与技术架构</a:t>
            </a:r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52185" y="2723319"/>
            <a:ext cx="178702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权限控制设计</a:t>
            </a:r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173335" y="3222625"/>
            <a:ext cx="1904365" cy="543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52673" y="3815201"/>
            <a:ext cx="17870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难点攻克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32683" y="4382732"/>
            <a:ext cx="17870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收获</a:t>
            </a:r>
            <a:endParaRPr lang="zh-CN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2720" y="1243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807720" y="1153160"/>
          <a:ext cx="853249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"/>
                <a:gridCol w="3605530"/>
                <a:gridCol w="3708400"/>
              </a:tblGrid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模块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核心能力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技术点</a:t>
                      </a:r>
                      <a:endParaRPr lang="zh-CN" altLang="en-US" sz="2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班级管理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新增班级，删除班级，教师绑定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实时表单验证，唯一性检查</a:t>
                      </a:r>
                      <a:endParaRPr lang="zh-CN" altLang="en-US" sz="2000"/>
                    </a:p>
                  </a:txBody>
                  <a:tcPr/>
                </a:tc>
              </a:tr>
              <a:tr h="3549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成绩管理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筛选，新增，修改，查看，导出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/>
                        <a:t>Promise.all</a:t>
                      </a:r>
                      <a:r>
                        <a:rPr lang="zh-CN" altLang="en-US" sz="2000"/>
                        <a:t>并行、</a:t>
                      </a:r>
                      <a:r>
                        <a:rPr lang="en-US" altLang="zh-CN" sz="2000"/>
                        <a:t>CSV+BOM</a:t>
                      </a:r>
                      <a:endParaRPr lang="en-US" altLang="zh-CN" sz="2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通知管理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发布</a:t>
                      </a:r>
                      <a:r>
                        <a:rPr lang="en-US" altLang="zh-CN" sz="2000"/>
                        <a:t>/</a:t>
                      </a:r>
                      <a:r>
                        <a:rPr lang="zh-CN" altLang="en-US" sz="2000"/>
                        <a:t>编辑</a:t>
                      </a:r>
                      <a:r>
                        <a:rPr lang="en-US" altLang="zh-CN" sz="2000"/>
                        <a:t>/</a:t>
                      </a:r>
                      <a:r>
                        <a:rPr lang="zh-CN" altLang="en-US" sz="2000"/>
                        <a:t>删除、已读统计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中间表的设计，数据统一</a:t>
                      </a:r>
                      <a:endParaRPr lang="zh-CN" altLang="en-US" sz="2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操作日志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全操作记录，按角色查看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统一日志记录</a:t>
                      </a:r>
                      <a:endParaRPr lang="zh-CN" altLang="en-US" sz="20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图片 13" descr="屏幕截图 2026-04-18 1434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685" y="3857625"/>
            <a:ext cx="6151880" cy="2124075"/>
          </a:xfrm>
          <a:prstGeom prst="rect">
            <a:avLst/>
          </a:prstGeom>
        </p:spPr>
      </p:pic>
      <p:pic>
        <p:nvPicPr>
          <p:cNvPr id="16" name="图片 15" descr="屏幕截图 2026-04-18 1436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465" y="4156710"/>
            <a:ext cx="4958080" cy="1215390"/>
          </a:xfrm>
          <a:prstGeom prst="rect">
            <a:avLst/>
          </a:prstGeom>
        </p:spPr>
      </p:pic>
      <p:pic>
        <p:nvPicPr>
          <p:cNvPr id="17" name="图片 16" descr="屏幕截图 2026-04-18 1437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780" y="3926840"/>
            <a:ext cx="4208145" cy="1561465"/>
          </a:xfrm>
          <a:prstGeom prst="rect">
            <a:avLst/>
          </a:prstGeom>
        </p:spPr>
      </p:pic>
      <p:pic>
        <p:nvPicPr>
          <p:cNvPr id="22" name="图片 21" descr="屏幕截图 2026-04-18 1447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6720" y="3204845"/>
            <a:ext cx="3247390" cy="3429635"/>
          </a:xfrm>
          <a:prstGeom prst="rect">
            <a:avLst/>
          </a:prstGeom>
        </p:spPr>
      </p:pic>
      <p:pic>
        <p:nvPicPr>
          <p:cNvPr id="23" name="图片 22" descr="屏幕截图 2026-04-18 1445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820" y="4259580"/>
            <a:ext cx="5737225" cy="1565910"/>
          </a:xfrm>
          <a:prstGeom prst="rect">
            <a:avLst/>
          </a:prstGeom>
        </p:spPr>
      </p:pic>
      <p:pic>
        <p:nvPicPr>
          <p:cNvPr id="24" name="图片 23" descr="屏幕截图 2026-04-18 1448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1490" y="2723515"/>
            <a:ext cx="3118485" cy="3910965"/>
          </a:xfrm>
          <a:prstGeom prst="rect">
            <a:avLst/>
          </a:prstGeom>
        </p:spPr>
      </p:pic>
      <p:pic>
        <p:nvPicPr>
          <p:cNvPr id="26" name="图片 25" descr="屏幕截图 2026-04-18 1448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5630" y="2799080"/>
            <a:ext cx="2836545" cy="3921125"/>
          </a:xfrm>
          <a:prstGeom prst="rect">
            <a:avLst/>
          </a:prstGeom>
        </p:spPr>
      </p:pic>
      <p:pic>
        <p:nvPicPr>
          <p:cNvPr id="28" name="图片 27" descr="屏幕截图 2026-04-18 1454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1685" y="3766185"/>
            <a:ext cx="5996305" cy="1997075"/>
          </a:xfrm>
          <a:prstGeom prst="rect">
            <a:avLst/>
          </a:prstGeom>
        </p:spPr>
      </p:pic>
      <p:pic>
        <p:nvPicPr>
          <p:cNvPr id="34" name="图片 33" descr="屏幕截图 2026-04-18 1502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9895" y="4107815"/>
            <a:ext cx="6700520" cy="1873885"/>
          </a:xfrm>
          <a:prstGeom prst="rect">
            <a:avLst/>
          </a:prstGeom>
        </p:spPr>
      </p:pic>
      <p:pic>
        <p:nvPicPr>
          <p:cNvPr id="35" name="图片 34" descr="屏幕截图 2026-04-18 15040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1285" y="2582545"/>
            <a:ext cx="4116705" cy="4072890"/>
          </a:xfrm>
          <a:prstGeom prst="rect">
            <a:avLst/>
          </a:prstGeom>
        </p:spPr>
      </p:pic>
      <p:pic>
        <p:nvPicPr>
          <p:cNvPr id="36" name="图片 35" descr="屏幕截图 2026-04-18 1504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6720" y="2633980"/>
            <a:ext cx="3833495" cy="4086225"/>
          </a:xfrm>
          <a:prstGeom prst="rect">
            <a:avLst/>
          </a:prstGeom>
        </p:spPr>
      </p:pic>
      <p:pic>
        <p:nvPicPr>
          <p:cNvPr id="37" name="图片 36" descr="屏幕截图 2026-04-18 1515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36800" y="3301365"/>
            <a:ext cx="7394575" cy="2750820"/>
          </a:xfrm>
          <a:prstGeom prst="rect">
            <a:avLst/>
          </a:prstGeom>
        </p:spPr>
      </p:pic>
      <p:pic>
        <p:nvPicPr>
          <p:cNvPr id="38" name="图片 37" descr="屏幕截图 2026-04-18 15274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15160" y="3743960"/>
            <a:ext cx="7642860" cy="1555750"/>
          </a:xfrm>
          <a:prstGeom prst="rect">
            <a:avLst/>
          </a:prstGeom>
        </p:spPr>
      </p:pic>
      <p:pic>
        <p:nvPicPr>
          <p:cNvPr id="39" name="图片 38" descr="屏幕截图 2026-04-18 1529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92955" y="2283460"/>
            <a:ext cx="4965065" cy="4476750"/>
          </a:xfrm>
          <a:prstGeom prst="rect">
            <a:avLst/>
          </a:prstGeom>
        </p:spPr>
      </p:pic>
      <p:pic>
        <p:nvPicPr>
          <p:cNvPr id="40" name="图片 39" descr="屏幕截图 2026-04-18 1530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89380" y="2799080"/>
            <a:ext cx="7733665" cy="3316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189667" y="-1707853"/>
            <a:ext cx="7933859" cy="9628196"/>
            <a:chOff x="-1189667" y="-1707853"/>
            <a:chExt cx="7933859" cy="9628196"/>
          </a:xfrm>
        </p:grpSpPr>
        <p:sp>
          <p:nvSpPr>
            <p:cNvPr id="7" name="椭圆 6"/>
            <p:cNvSpPr/>
            <p:nvPr/>
          </p:nvSpPr>
          <p:spPr>
            <a:xfrm>
              <a:off x="-142000" y="796672"/>
              <a:ext cx="5392402" cy="5392401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-1189667" y="-250994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-100010" y="1110117"/>
              <a:ext cx="6810228" cy="6810226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-743543" y="-1707853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0" y="2011680"/>
            <a:ext cx="12192000" cy="2812868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853146" y="2461804"/>
            <a:ext cx="1912620" cy="19126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600" dirty="0">
              <a:solidFill>
                <a:srgbClr val="3843B3"/>
              </a:solidFill>
              <a:latin typeface="Novecento wide Bold" panose="00000805000000000000" pitchFamily="50" charset="0"/>
              <a:ea typeface="思源黑体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08513" y="3077373"/>
            <a:ext cx="645439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难点攻克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90035" y="2243292"/>
            <a:ext cx="12257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800" dirty="0">
                <a:solidFill>
                  <a:srgbClr val="3843B3"/>
                </a:solidFill>
                <a:latin typeface="Novecento wide Bold" panose="00000805000000000000" pitchFamily="50" charset="0"/>
              </a:rPr>
              <a:t>4</a:t>
            </a:r>
            <a:endParaRPr lang="zh-CN" altLang="en-US" sz="12800" dirty="0">
              <a:solidFill>
                <a:srgbClr val="3843B3"/>
              </a:solidFill>
              <a:latin typeface="Novecento wide Bold" panose="00000805000000000000" pitchFamily="50" charset="0"/>
            </a:endParaRP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5507" y="2461803"/>
            <a:ext cx="1912620" cy="19733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42286" y="0"/>
            <a:ext cx="2249715" cy="6858000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004" y="509861"/>
            <a:ext cx="265645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难点攻克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6998" y="420430"/>
            <a:ext cx="1068278" cy="1102192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968457" y="577043"/>
            <a:ext cx="327299" cy="327299"/>
          </a:xfrm>
          <a:prstGeom prst="ellipse">
            <a:avLst/>
          </a:prstGeom>
          <a:solidFill>
            <a:srgbClr val="3843B3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73775" y="1701128"/>
            <a:ext cx="1787029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项目概述与技术架构</a:t>
            </a:r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73775" y="2582349"/>
            <a:ext cx="178702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权限控制设计</a:t>
            </a:r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173628" y="3132735"/>
            <a:ext cx="17870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74263" y="3744081"/>
            <a:ext cx="17870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难点攻克</a:t>
            </a:r>
            <a:endParaRPr 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173628" y="4324947"/>
            <a:ext cx="17870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收获</a:t>
            </a:r>
            <a:endParaRPr lang="zh-CN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96035" y="1062355"/>
            <a:ext cx="80124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编辑通知：编辑入口嵌套在查看弹窗内，触发链路过深，导致弹窗套弹窗的混乱体验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 descr="屏幕截图 2026-04-18 1504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075" y="224790"/>
            <a:ext cx="3423285" cy="428371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296035" y="2223770"/>
            <a:ext cx="76600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优化方案：通过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onclick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替换重复绑定，点击编辑时先关闭查看弹窗再打开编辑弹窗（发布弹窗），避免弹窗叠加造成的层级混乱。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 descr="屏幕截图 2026-04-18 1936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035" y="3500120"/>
            <a:ext cx="4460875" cy="1485265"/>
          </a:xfrm>
          <a:prstGeom prst="rect">
            <a:avLst/>
          </a:prstGeom>
        </p:spPr>
      </p:pic>
      <p:pic>
        <p:nvPicPr>
          <p:cNvPr id="22" name="图片 21" descr="屏幕截图 2026-04-18 1934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035" y="1606550"/>
            <a:ext cx="5643880" cy="4890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9" grpId="0"/>
      <p:bldP spid="1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189667" y="-1707853"/>
            <a:ext cx="7933859" cy="9628196"/>
            <a:chOff x="-1189667" y="-1707853"/>
            <a:chExt cx="7933859" cy="9628196"/>
          </a:xfrm>
        </p:grpSpPr>
        <p:sp>
          <p:nvSpPr>
            <p:cNvPr id="7" name="椭圆 6"/>
            <p:cNvSpPr/>
            <p:nvPr/>
          </p:nvSpPr>
          <p:spPr>
            <a:xfrm>
              <a:off x="-142000" y="796672"/>
              <a:ext cx="5392402" cy="5392401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-1189667" y="-250994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-100010" y="1110117"/>
              <a:ext cx="6810228" cy="6810226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-743543" y="-1707853"/>
              <a:ext cx="7487735" cy="7487734"/>
            </a:xfrm>
            <a:prstGeom prst="ellipse">
              <a:avLst/>
            </a:prstGeom>
            <a:noFill/>
            <a:ln w="6350">
              <a:solidFill>
                <a:schemeClr val="accent1">
                  <a:alpha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0" y="2011680"/>
            <a:ext cx="12192000" cy="2812868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853146" y="2461804"/>
            <a:ext cx="1912620" cy="19126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600" dirty="0">
              <a:solidFill>
                <a:srgbClr val="3843B3"/>
              </a:solidFill>
              <a:latin typeface="Novecento wide Bold" panose="00000805000000000000" pitchFamily="50" charset="0"/>
              <a:ea typeface="思源黑体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08513" y="3077373"/>
            <a:ext cx="645439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收获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1861" y="2243292"/>
            <a:ext cx="12257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800" dirty="0">
                <a:solidFill>
                  <a:srgbClr val="3843B3"/>
                </a:solidFill>
                <a:latin typeface="Novecento wide Bold" panose="00000805000000000000" pitchFamily="50" charset="0"/>
              </a:rPr>
              <a:t>5</a:t>
            </a:r>
            <a:endParaRPr lang="zh-CN" altLang="en-US" sz="12800" dirty="0">
              <a:solidFill>
                <a:srgbClr val="3843B3"/>
              </a:solidFill>
              <a:latin typeface="Novecento wide Bold" panose="00000805000000000000" pitchFamily="50" charset="0"/>
            </a:endParaRP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5507" y="2461803"/>
            <a:ext cx="1912620" cy="19733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42286" y="0"/>
            <a:ext cx="2249715" cy="6858000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004" y="509861"/>
            <a:ext cx="265645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收获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6998" y="420430"/>
            <a:ext cx="1068278" cy="1102192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968457" y="577043"/>
            <a:ext cx="327299" cy="327299"/>
          </a:xfrm>
          <a:prstGeom prst="ellipse">
            <a:avLst/>
          </a:prstGeom>
          <a:solidFill>
            <a:srgbClr val="3843B3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52185" y="1833843"/>
            <a:ext cx="178702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项目概述与技术架构</a:t>
            </a:r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52380" y="2582545"/>
            <a:ext cx="1786890" cy="461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权限控制设计</a:t>
            </a:r>
            <a:endParaRPr lang="zh-CN" altLang="en-US" sz="2000" dirty="0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173628" y="3163215"/>
            <a:ext cx="17870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73628" y="3744081"/>
            <a:ext cx="17870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难点攻克</a:t>
            </a:r>
            <a:endParaRPr lang="zh-CN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173628" y="4324947"/>
            <a:ext cx="17870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收获</a:t>
            </a:r>
            <a:endParaRPr 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6035" y="1243330"/>
            <a:ext cx="7950200" cy="892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、理解了前后端分离的架构模式，知道前端怎么调接口、后端怎么返回数据。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/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96035" y="2063750"/>
            <a:ext cx="7832725" cy="831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、多角色的项目让我认识到，代码模块化，封装函数这些的重要性。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1296035" y="2914015"/>
            <a:ext cx="7482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、尽量不使用全局变量，会导致很多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/>
          </a:p>
        </p:txBody>
      </p:sp>
      <p:sp>
        <p:nvSpPr>
          <p:cNvPr id="14" name="文本框 13"/>
          <p:cNvSpPr txBox="1"/>
          <p:nvPr/>
        </p:nvSpPr>
        <p:spPr>
          <a:xfrm>
            <a:off x="1296035" y="3429000"/>
            <a:ext cx="7560310" cy="829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、能够比较精准描述自己的需求，提高与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的协作能力。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None/>
            </a:pP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/>
          </a:p>
        </p:txBody>
      </p:sp>
      <p:sp>
        <p:nvSpPr>
          <p:cNvPr id="15" name="文本框 14"/>
          <p:cNvSpPr txBox="1"/>
          <p:nvPr/>
        </p:nvSpPr>
        <p:spPr>
          <a:xfrm>
            <a:off x="1334770" y="4258310"/>
            <a:ext cx="5889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、抗压能力与问题解决能力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up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13" grpId="0"/>
      <p:bldP spid="13" grpId="1"/>
      <p:bldP spid="14" grpId="0"/>
      <p:bldP spid="14" grpId="1"/>
      <p:bldP spid="15" grpId="0"/>
      <p:bldP spid="1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7074" y="629136"/>
            <a:ext cx="5277852" cy="544540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flipV="1">
            <a:off x="0" y="3667956"/>
            <a:ext cx="12192000" cy="3190043"/>
          </a:xfrm>
          <a:prstGeom prst="rect">
            <a:avLst/>
          </a:prstGeom>
          <a:solidFill>
            <a:srgbClr val="384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tka Text"/>
              <a:ea typeface="微软雅黑 Light" panose="020B0502040204020203" charset="-122"/>
              <a:cs typeface="+mn-cs"/>
            </a:endParaRP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7074" y="680577"/>
            <a:ext cx="5277852" cy="544540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41809" y="2836949"/>
            <a:ext cx="35083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rgbClr val="384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lang="zh-CN" altLang="en-US" sz="5400" b="1" dirty="0">
              <a:solidFill>
                <a:srgbClr val="3843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41809" y="3707963"/>
            <a:ext cx="3508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b="1" dirty="0">
                <a:ln>
                  <a:solidFill>
                    <a:schemeClr val="bg1"/>
                  </a:solidFill>
                </a:ln>
                <a:noFill/>
                <a:latin typeface="Novecento wide Bold" panose="00000805000000000000" pitchFamily="50" charset="0"/>
                <a:ea typeface="思源黑体 Medium" panose="020B0600000000000000" pitchFamily="34" charset="-122"/>
              </a:rPr>
              <a:t>Thanks for listening</a:t>
            </a:r>
            <a:endParaRPr lang="zh-CN" altLang="en-US" sz="2000" b="1" dirty="0">
              <a:ln>
                <a:solidFill>
                  <a:schemeClr val="bg1"/>
                </a:solidFill>
              </a:ln>
              <a:noFill/>
              <a:latin typeface="Novecento wide Bold" panose="00000805000000000000" pitchFamily="50" charset="0"/>
              <a:ea typeface="思源黑体 Medium" panose="020B0600000000000000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2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3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4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5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6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7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8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9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0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1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2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3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4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5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6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7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8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19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20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21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22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23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24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ags/tag25.xml><?xml version="1.0" encoding="utf-8"?>
<p:tagLst xmlns:p="http://schemas.openxmlformats.org/presentationml/2006/main">
  <p:tag name="KSO_WM_DIAGRAM_VIRTUALLY_FRAME" val="{&quot;height&quot;:400.58755905511816,&quot;left&quot;:416.72377952755903,&quot;top&quot;:75.84275590551181,&quot;width&quot;:449.4293700787401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WPS 演示</Application>
  <PresentationFormat>宽屏</PresentationFormat>
  <Paragraphs>255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58" baseType="lpstr">
      <vt:lpstr>Arial</vt:lpstr>
      <vt:lpstr>宋体</vt:lpstr>
      <vt:lpstr>Wingdings</vt:lpstr>
      <vt:lpstr>Sitka Text</vt:lpstr>
      <vt:lpstr>微软雅黑 Light</vt:lpstr>
      <vt:lpstr>Novecento wide Bold</vt:lpstr>
      <vt:lpstr>思源黑体 Medium</vt:lpstr>
      <vt:lpstr>黑体</vt:lpstr>
      <vt:lpstr>微软雅黑</vt:lpstr>
      <vt:lpstr>Montserrat Light</vt:lpstr>
      <vt:lpstr>等线</vt:lpstr>
      <vt:lpstr>Arial Unicode MS</vt:lpstr>
      <vt:lpstr>等线 Light</vt:lpstr>
      <vt:lpstr>Calibri</vt:lpstr>
      <vt:lpstr>华文宋体</vt:lpstr>
      <vt:lpstr>华文隶书</vt:lpstr>
      <vt:lpstr>华文中宋</vt:lpstr>
      <vt:lpstr>仿宋</vt:lpstr>
      <vt:lpstr>华文彩云</vt:lpstr>
      <vt:lpstr>华文楷体</vt:lpstr>
      <vt:lpstr>华文琥珀</vt:lpstr>
      <vt:lpstr>华文细黑</vt:lpstr>
      <vt:lpstr>华文行楷</vt:lpstr>
      <vt:lpstr>方正兰亭大黑简体</vt:lpstr>
      <vt:lpstr>方正楷体简体</vt:lpstr>
      <vt:lpstr>方正姚体</vt:lpstr>
      <vt:lpstr>方正小标宋简体</vt:lpstr>
      <vt:lpstr>方正小标宋_GBK</vt:lpstr>
      <vt:lpstr>方正楷体_GBK</vt:lpstr>
      <vt:lpstr>华文仿宋</vt:lpstr>
      <vt:lpstr>新宋体</vt:lpstr>
      <vt:lpstr>方正仿宋简体</vt:lpstr>
      <vt:lpstr>汉仪中圆B5</vt:lpstr>
      <vt:lpstr>方正黑体_GBK</vt:lpstr>
      <vt:lpstr>方正黑体简体</vt:lpstr>
      <vt:lpstr>方正隶书简体</vt:lpstr>
      <vt:lpstr>方正兰亭大黑_GBK</vt:lpstr>
      <vt:lpstr>方正书宋_GBK</vt:lpstr>
      <vt:lpstr>幼圆</vt:lpstr>
      <vt:lpstr>华文新魏</vt:lpstr>
      <vt:lpstr>quote-cjk-patch</vt:lpstr>
      <vt:lpstr>Segoe Print</vt:lpstr>
      <vt:lpstr>menlo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邓 志聪</dc:creator>
  <cp:lastModifiedBy>李依妮</cp:lastModifiedBy>
  <cp:revision>18</cp:revision>
  <dcterms:created xsi:type="dcterms:W3CDTF">2022-04-30T16:30:00Z</dcterms:created>
  <dcterms:modified xsi:type="dcterms:W3CDTF">2026-04-18T12:47:20Z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0EFDFD1E2032443284DB7A4EE89A6119_12</vt:lpwstr>
  </property>
  <property fmtid="{D5CDD505-2E9C-101B-9397-08002B2CF9AE}" pid="3" name="KSOProductBuildVer">
    <vt:lpwstr>2052-12.1.0.23542</vt:lpwstr>
  </property>
</Properties>
</file>